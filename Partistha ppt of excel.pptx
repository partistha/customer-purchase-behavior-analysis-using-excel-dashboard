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Roboto" charset="0"/>
      <p:regular r:id="rId14"/>
    </p:embeddedFont>
    <p:embeddedFont>
      <p:font typeface="Raleway" charset="0"/>
      <p:regular r:id="rId15"/>
    </p:embeddedFont>
    <p:embeddedFont>
      <p:font typeface="Calibri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1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9" d="100"/>
          <a:sy n="79" d="100"/>
        </p:scale>
        <p:origin x="-178" y="-58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C692E-E228-4C18-AA48-6DF2A26F0D7F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F3EEC-4B6A-4837-B485-9DF0C16A9B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705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371531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2"/>
            <a:ext cx="12435840" cy="176403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3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2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4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5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0C73D-9095-4820-BA20-35107C9A487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B166-0324-47DA-9889-1D004DA4A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424923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0C73D-9095-4820-BA20-35107C9A487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B166-0324-47DA-9889-1D004DA4A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151204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82"/>
            <a:ext cx="12435840" cy="163449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653077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155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23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31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38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465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543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6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0C73D-9095-4820-BA20-35107C9A487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B166-0324-47DA-9889-1D004DA4A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08267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0941" y="2305050"/>
            <a:ext cx="10411459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26242" y="2305050"/>
            <a:ext cx="10411461" cy="651700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0C73D-9095-4820-BA20-35107C9A487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B166-0324-47DA-9889-1D004DA4A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09319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077" indent="0">
              <a:buNone/>
              <a:defRPr sz="2900" b="1"/>
            </a:lvl2pPr>
            <a:lvl3pPr marL="1306155" indent="0">
              <a:buNone/>
              <a:defRPr sz="2600" b="1"/>
            </a:lvl3pPr>
            <a:lvl4pPr marL="1959233" indent="0">
              <a:buNone/>
              <a:defRPr sz="2300" b="1"/>
            </a:lvl4pPr>
            <a:lvl5pPr marL="2612311" indent="0">
              <a:buNone/>
              <a:defRPr sz="2300" b="1"/>
            </a:lvl5pPr>
            <a:lvl6pPr marL="3265388" indent="0">
              <a:buNone/>
              <a:defRPr sz="2300" b="1"/>
            </a:lvl6pPr>
            <a:lvl7pPr marL="3918465" indent="0">
              <a:buNone/>
              <a:defRPr sz="2300" b="1"/>
            </a:lvl7pPr>
            <a:lvl8pPr marL="4571543" indent="0">
              <a:buNone/>
              <a:defRPr sz="2300" b="1"/>
            </a:lvl8pPr>
            <a:lvl9pPr marL="5224620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2" y="1842136"/>
            <a:ext cx="6466840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077" indent="0">
              <a:buNone/>
              <a:defRPr sz="2900" b="1"/>
            </a:lvl2pPr>
            <a:lvl3pPr marL="1306155" indent="0">
              <a:buNone/>
              <a:defRPr sz="2600" b="1"/>
            </a:lvl3pPr>
            <a:lvl4pPr marL="1959233" indent="0">
              <a:buNone/>
              <a:defRPr sz="2300" b="1"/>
            </a:lvl4pPr>
            <a:lvl5pPr marL="2612311" indent="0">
              <a:buNone/>
              <a:defRPr sz="2300" b="1"/>
            </a:lvl5pPr>
            <a:lvl6pPr marL="3265388" indent="0">
              <a:buNone/>
              <a:defRPr sz="2300" b="1"/>
            </a:lvl6pPr>
            <a:lvl7pPr marL="3918465" indent="0">
              <a:buNone/>
              <a:defRPr sz="2300" b="1"/>
            </a:lvl7pPr>
            <a:lvl8pPr marL="4571543" indent="0">
              <a:buNone/>
              <a:defRPr sz="2300" b="1"/>
            </a:lvl8pPr>
            <a:lvl9pPr marL="5224620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2" y="2609850"/>
            <a:ext cx="6466840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0C73D-9095-4820-BA20-35107C9A487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B166-0324-47DA-9889-1D004DA4A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9733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0C73D-9095-4820-BA20-35107C9A487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B166-0324-47DA-9889-1D004DA4A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29315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0C73D-9095-4820-BA20-35107C9A487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B166-0324-47DA-9889-1D004DA4A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13999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2" y="327660"/>
            <a:ext cx="4813301" cy="1394460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2" y="1722120"/>
            <a:ext cx="4813301" cy="5629276"/>
          </a:xfrm>
        </p:spPr>
        <p:txBody>
          <a:bodyPr/>
          <a:lstStyle>
            <a:lvl1pPr marL="0" indent="0">
              <a:buNone/>
              <a:defRPr sz="2000"/>
            </a:lvl1pPr>
            <a:lvl2pPr marL="653077" indent="0">
              <a:buNone/>
              <a:defRPr sz="1700"/>
            </a:lvl2pPr>
            <a:lvl3pPr marL="1306155" indent="0">
              <a:buNone/>
              <a:defRPr sz="1400"/>
            </a:lvl3pPr>
            <a:lvl4pPr marL="1959233" indent="0">
              <a:buNone/>
              <a:defRPr sz="1300"/>
            </a:lvl4pPr>
            <a:lvl5pPr marL="2612311" indent="0">
              <a:buNone/>
              <a:defRPr sz="1300"/>
            </a:lvl5pPr>
            <a:lvl6pPr marL="3265388" indent="0">
              <a:buNone/>
              <a:defRPr sz="1300"/>
            </a:lvl6pPr>
            <a:lvl7pPr marL="3918465" indent="0">
              <a:buNone/>
              <a:defRPr sz="1300"/>
            </a:lvl7pPr>
            <a:lvl8pPr marL="4571543" indent="0">
              <a:buNone/>
              <a:defRPr sz="1300"/>
            </a:lvl8pPr>
            <a:lvl9pPr marL="5224620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0C73D-9095-4820-BA20-35107C9A487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B166-0324-47DA-9889-1D004DA4A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591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4600"/>
            </a:lvl1pPr>
            <a:lvl2pPr marL="653077" indent="0">
              <a:buNone/>
              <a:defRPr sz="4000"/>
            </a:lvl2pPr>
            <a:lvl3pPr marL="1306155" indent="0">
              <a:buNone/>
              <a:defRPr sz="3400"/>
            </a:lvl3pPr>
            <a:lvl4pPr marL="1959233" indent="0">
              <a:buNone/>
              <a:defRPr sz="2900"/>
            </a:lvl4pPr>
            <a:lvl5pPr marL="2612311" indent="0">
              <a:buNone/>
              <a:defRPr sz="2900"/>
            </a:lvl5pPr>
            <a:lvl6pPr marL="3265388" indent="0">
              <a:buNone/>
              <a:defRPr sz="2900"/>
            </a:lvl6pPr>
            <a:lvl7pPr marL="3918465" indent="0">
              <a:buNone/>
              <a:defRPr sz="2900"/>
            </a:lvl7pPr>
            <a:lvl8pPr marL="4571543" indent="0">
              <a:buNone/>
              <a:defRPr sz="2900"/>
            </a:lvl8pPr>
            <a:lvl9pPr marL="5224620" indent="0">
              <a:buNone/>
              <a:defRPr sz="29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2000"/>
            </a:lvl1pPr>
            <a:lvl2pPr marL="653077" indent="0">
              <a:buNone/>
              <a:defRPr sz="1700"/>
            </a:lvl2pPr>
            <a:lvl3pPr marL="1306155" indent="0">
              <a:buNone/>
              <a:defRPr sz="1400"/>
            </a:lvl3pPr>
            <a:lvl4pPr marL="1959233" indent="0">
              <a:buNone/>
              <a:defRPr sz="1300"/>
            </a:lvl4pPr>
            <a:lvl5pPr marL="2612311" indent="0">
              <a:buNone/>
              <a:defRPr sz="1300"/>
            </a:lvl5pPr>
            <a:lvl6pPr marL="3265388" indent="0">
              <a:buNone/>
              <a:defRPr sz="1300"/>
            </a:lvl6pPr>
            <a:lvl7pPr marL="3918465" indent="0">
              <a:buNone/>
              <a:defRPr sz="1300"/>
            </a:lvl7pPr>
            <a:lvl8pPr marL="4571543" indent="0">
              <a:buNone/>
              <a:defRPr sz="1300"/>
            </a:lvl8pPr>
            <a:lvl9pPr marL="5224620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0C73D-9095-4820-BA20-35107C9A487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B166-0324-47DA-9889-1D004DA4A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37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0C73D-9095-4820-BA20-35107C9A487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B166-0324-47DA-9889-1D004DA4A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64577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972280" y="396240"/>
            <a:ext cx="5265421" cy="842581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0943" y="396240"/>
            <a:ext cx="15557499" cy="842581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0C73D-9095-4820-BA20-35107C9A487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DB166-0324-47DA-9889-1D004DA4A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5385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130615" tIns="65308" rIns="130615" bIns="6530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130615" tIns="65308" rIns="130615" bIns="6530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2"/>
            <a:ext cx="3413760" cy="438150"/>
          </a:xfrm>
          <a:prstGeom prst="rect">
            <a:avLst/>
          </a:prstGeom>
        </p:spPr>
        <p:txBody>
          <a:bodyPr vert="horz" lIns="130615" tIns="65308" rIns="130615" bIns="65308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F0C73D-9095-4820-BA20-35107C9A4879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2"/>
            <a:ext cx="4632960" cy="438150"/>
          </a:xfrm>
          <a:prstGeom prst="rect">
            <a:avLst/>
          </a:prstGeom>
        </p:spPr>
        <p:txBody>
          <a:bodyPr vert="horz" lIns="130615" tIns="65308" rIns="130615" bIns="65308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2"/>
            <a:ext cx="3413760" cy="438150"/>
          </a:xfrm>
          <a:prstGeom prst="rect">
            <a:avLst/>
          </a:prstGeom>
        </p:spPr>
        <p:txBody>
          <a:bodyPr vert="horz" lIns="130615" tIns="65308" rIns="130615" bIns="65308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DB166-0324-47DA-9889-1D004DA4A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599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</p:sldLayoutIdLst>
  <p:hf sldNum="0" hdr="0" ftr="0" dt="0"/>
  <p:txStyles>
    <p:titleStyle>
      <a:lvl1pPr algn="ctr" defTabSz="1306155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9808" indent="-489808" algn="l" defTabSz="1306155" rtl="0" eaLnBrk="1" latinLnBrk="0" hangingPunct="1">
        <a:spcBef>
          <a:spcPct val="20000"/>
        </a:spcBef>
        <a:buFont typeface="Arial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61251" indent="-408174" algn="l" defTabSz="1306155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694" indent="-326539" algn="l" defTabSz="1306155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771" indent="-326539" algn="l" defTabSz="1306155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38849" indent="-326539" algn="l" defTabSz="1306155" rtl="0" eaLnBrk="1" latinLnBrk="0" hangingPunct="1">
        <a:spcBef>
          <a:spcPct val="20000"/>
        </a:spcBef>
        <a:buFont typeface="Arial" pitchFamily="34" charset="0"/>
        <a:buChar char="»"/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91926" indent="-326539" algn="l" defTabSz="1306155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5003" indent="-326539" algn="l" defTabSz="1306155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082" indent="-326539" algn="l" defTabSz="1306155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160" indent="-326539" algn="l" defTabSz="1306155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077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155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233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311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388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465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3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620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8.svg"/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-2-6.svg"/><Relationship Id="rId5" Type="http://schemas.openxmlformats.org/officeDocument/2006/relationships/image" Target="../media/image-2-4.svg"/><Relationship Id="rId4" Type="http://schemas.openxmlformats.org/officeDocument/2006/relationships/image" Target="../media/image-2-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-5-8.svg"/><Relationship Id="rId3" Type="http://schemas.openxmlformats.org/officeDocument/2006/relationships/image" Target="../media/image4.png"/><Relationship Id="rId12" Type="http://schemas.openxmlformats.org/officeDocument/2006/relationships/image" Target="../media/image-5-12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-5-16.sv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-5-6.svg"/><Relationship Id="rId5" Type="http://schemas.openxmlformats.org/officeDocument/2006/relationships/image" Target="../media/image-5-4.svg"/><Relationship Id="rId10" Type="http://schemas.openxmlformats.org/officeDocument/2006/relationships/image" Target="../media/image-5-10.svg"/><Relationship Id="rId4" Type="http://schemas.openxmlformats.org/officeDocument/2006/relationships/image" Target="../media/image-5-2.svg"/><Relationship Id="rId14" Type="http://schemas.openxmlformats.org/officeDocument/2006/relationships/image" Target="../media/image-5-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8.svg"/><Relationship Id="rId3" Type="http://schemas.openxmlformats.org/officeDocument/2006/relationships/image" Target="../media/image4.png"/><Relationship Id="rId12" Type="http://schemas.openxmlformats.org/officeDocument/2006/relationships/image" Target="../media/image-7-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-7-6.svg"/><Relationship Id="rId5" Type="http://schemas.openxmlformats.org/officeDocument/2006/relationships/image" Target="../media/image-7-4.svg"/><Relationship Id="rId10" Type="http://schemas.openxmlformats.org/officeDocument/2006/relationships/image" Target="../media/image-7-10.svg"/><Relationship Id="rId4" Type="http://schemas.openxmlformats.org/officeDocument/2006/relationships/image" Target="../media/image-7-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62" y="817483"/>
            <a:ext cx="2832734" cy="137100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3251" y="817484"/>
            <a:ext cx="2910602" cy="164794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4103251" y="2689622"/>
            <a:ext cx="4303990" cy="32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endParaRPr lang="en-US" sz="1700" dirty="0"/>
          </a:p>
        </p:txBody>
      </p:sp>
      <p:sp>
        <p:nvSpPr>
          <p:cNvPr id="6" name="Text 1"/>
          <p:cNvSpPr/>
          <p:nvPr/>
        </p:nvSpPr>
        <p:spPr>
          <a:xfrm>
            <a:off x="744260" y="3497461"/>
            <a:ext cx="5316261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200"/>
              </a:lnSpc>
            </a:pPr>
            <a:r>
              <a:rPr lang="en-US" sz="4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Purchase </a:t>
            </a:r>
            <a:endParaRPr lang="en-US" sz="4100" dirty="0"/>
          </a:p>
        </p:txBody>
      </p:sp>
      <p:sp>
        <p:nvSpPr>
          <p:cNvPr id="7" name="Text 2"/>
          <p:cNvSpPr/>
          <p:nvPr/>
        </p:nvSpPr>
        <p:spPr>
          <a:xfrm>
            <a:off x="744261" y="4241602"/>
            <a:ext cx="7655482" cy="132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200"/>
              </a:lnSpc>
            </a:pPr>
            <a:r>
              <a:rPr lang="en-US" sz="4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Behavior Analysis Using Excel Dashboard</a:t>
            </a:r>
            <a:endParaRPr lang="en-US" sz="4100" dirty="0"/>
          </a:p>
        </p:txBody>
      </p:sp>
      <p:sp>
        <p:nvSpPr>
          <p:cNvPr id="8" name="Text 3"/>
          <p:cNvSpPr/>
          <p:nvPr/>
        </p:nvSpPr>
        <p:spPr>
          <a:xfrm>
            <a:off x="744261" y="5869543"/>
            <a:ext cx="7655482" cy="32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7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Presented by: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Partistha Singhmar (UID: 24BCA10301)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744261" y="6423304"/>
            <a:ext cx="7655482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17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Course: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Bachelor of Computer Applications (BCA) | </a:t>
            </a:r>
            <a:r>
              <a:rPr lang="en-US" sz="17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University:</a:t>
            </a: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Chandigarh University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744261" y="7306628"/>
            <a:ext cx="7655482" cy="32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50"/>
              </a:lnSpc>
            </a:pP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8278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93791" y="1990249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8224" y="222468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215391" y="241173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8225" y="3131939"/>
            <a:ext cx="28929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Data-Driven Decisions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28225" y="3622358"/>
            <a:ext cx="5939077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 businesses rely on data analysis to make strategic decisions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428550" y="1990249"/>
            <a:ext cx="6408062" cy="2592348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62982" y="2224684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850148" y="241173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62983" y="31319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Customer Insights</a:t>
            </a:r>
            <a:endParaRPr lang="en-US" sz="2100" dirty="0"/>
          </a:p>
        </p:txBody>
      </p:sp>
      <p:sp>
        <p:nvSpPr>
          <p:cNvPr id="12" name="Text 8"/>
          <p:cNvSpPr/>
          <p:nvPr/>
        </p:nvSpPr>
        <p:spPr>
          <a:xfrm>
            <a:off x="7662983" y="3622358"/>
            <a:ext cx="5939195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analyze customer data to understand buying behavior patterns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793791" y="4809412"/>
            <a:ext cx="6407944" cy="2592348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28224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215391" y="5230893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8224" y="5951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 Power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1028225" y="6441519"/>
            <a:ext cx="5939077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Microsoft Excel provides powerful tools for data analysis and visualization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428550" y="4809412"/>
            <a:ext cx="6408062" cy="2592348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62982" y="504384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1B2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850148" y="5230893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62983" y="59511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Purchase Patterns</a:t>
            </a:r>
            <a:endParaRPr lang="en-US" sz="2100" dirty="0"/>
          </a:p>
        </p:txBody>
      </p:sp>
      <p:sp>
        <p:nvSpPr>
          <p:cNvPr id="22" name="Text 16"/>
          <p:cNvSpPr/>
          <p:nvPr/>
        </p:nvSpPr>
        <p:spPr>
          <a:xfrm>
            <a:off x="7662983" y="6441519"/>
            <a:ext cx="5939195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focuses on analyzing customer purchase patterns and trends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13264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93791" y="2488883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1B1B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48888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5" y="2746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Unstructured Data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142525" y="323659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datasets are unstructured and complex, making them difficult to work with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16962" y="2488883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1B1B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248888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2746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Pattern Recognition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565696" y="3236595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Identifying patterns and trends without proper visualization is challenging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640133" y="2488883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1B1B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2488883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9" y="27461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Quality Issues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988869" y="3236595"/>
            <a:ext cx="3590330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Presence of duplicate entries and inconsistent data formats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93791" y="480941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1B1B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310" y="480941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1142525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Lack of Insights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42525" y="5557124"/>
            <a:ext cx="35903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Raw data provides limited meaningful insights without processing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216962" y="4809411"/>
            <a:ext cx="4196358" cy="2093714"/>
          </a:xfrm>
          <a:prstGeom prst="roundRect">
            <a:avLst>
              <a:gd name="adj" fmla="val 6988"/>
            </a:avLst>
          </a:prstGeom>
          <a:solidFill>
            <a:srgbClr val="FFFFFF">
              <a:alpha val="95000"/>
            </a:srgbClr>
          </a:solidFill>
          <a:ln w="30480">
            <a:solidFill>
              <a:srgbClr val="1B1B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86482" y="4809411"/>
            <a:ext cx="121920" cy="2093714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5565696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Conversion Needed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5565696" y="5557123"/>
            <a:ext cx="3590330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 to convert raw data into an understandable format for analysis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18674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90" y="3029902"/>
            <a:ext cx="4536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93791" y="3384947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1" y="35592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Cleaning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93791" y="4049674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and preprocess raw customer data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216962" y="3029902"/>
            <a:ext cx="4536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16962" y="3384947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3" y="35592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Standardization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216962" y="4049674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 and organize the dataset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40133" y="3029902"/>
            <a:ext cx="4536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40133" y="3384947"/>
            <a:ext cx="4196358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5592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Pivot Table Analysis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40133" y="4049674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data using Pivot Tables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93790" y="4809412"/>
            <a:ext cx="4536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93791" y="5164456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1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Visualization Creation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93791" y="582918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meaningful visualizations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28547" y="4809412"/>
            <a:ext cx="4536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428550" y="5164456"/>
            <a:ext cx="6407944" cy="3048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50" y="5338763"/>
            <a:ext cx="287059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428550" y="582918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an interactive dashboard using slicers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8374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Dataset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91" y="19998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Dataset contains customer information used to analyze purchase behavior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93790" y="2617946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26179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Gender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644255" y="3108367"/>
            <a:ext cx="55291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Male or Female classification</a:t>
            </a:r>
            <a:endParaRPr lang="en-US" sz="17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456885" y="2617946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9" y="26179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Marital Status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8307350" y="3108367"/>
            <a:ext cx="55292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or Married status</a:t>
            </a:r>
            <a:endParaRPr lang="en-US" sz="1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93790" y="3924895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39248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Income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1644255" y="4415315"/>
            <a:ext cx="55291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Annual income levels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456885" y="3924895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9" y="39248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8307350" y="4415315"/>
            <a:ext cx="55292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age groups</a:t>
            </a:r>
            <a:endParaRPr lang="en-US" sz="17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93790" y="5231844"/>
            <a:ext cx="566976" cy="5669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644253" y="5231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Education</a:t>
            </a:r>
            <a:endParaRPr lang="en-US" sz="2100" dirty="0"/>
          </a:p>
        </p:txBody>
      </p:sp>
      <p:sp>
        <p:nvSpPr>
          <p:cNvPr id="18" name="Text 11"/>
          <p:cNvSpPr/>
          <p:nvPr/>
        </p:nvSpPr>
        <p:spPr>
          <a:xfrm>
            <a:off x="1644255" y="5722264"/>
            <a:ext cx="55291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Educational background</a:t>
            </a:r>
            <a:endParaRPr lang="en-US" sz="17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456885" y="5231844"/>
            <a:ext cx="566976" cy="56697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307349" y="523184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Occupation</a:t>
            </a:r>
            <a:endParaRPr lang="en-US" sz="2100" dirty="0"/>
          </a:p>
        </p:txBody>
      </p:sp>
      <p:sp>
        <p:nvSpPr>
          <p:cNvPr id="21" name="Text 13"/>
          <p:cNvSpPr/>
          <p:nvPr/>
        </p:nvSpPr>
        <p:spPr>
          <a:xfrm>
            <a:off x="8307350" y="5722264"/>
            <a:ext cx="55292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Job and career details</a:t>
            </a:r>
            <a:endParaRPr lang="en-US" sz="17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793790" y="6538793"/>
            <a:ext cx="566976" cy="56697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644253" y="65387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Commute Distance</a:t>
            </a:r>
            <a:endParaRPr lang="en-US" sz="2100" dirty="0"/>
          </a:p>
        </p:txBody>
      </p:sp>
      <p:sp>
        <p:nvSpPr>
          <p:cNvPr id="24" name="Text 15"/>
          <p:cNvSpPr/>
          <p:nvPr/>
        </p:nvSpPr>
        <p:spPr>
          <a:xfrm>
            <a:off x="1644255" y="7029213"/>
            <a:ext cx="55291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Distance to workplace</a:t>
            </a:r>
            <a:endParaRPr lang="en-US" sz="17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7456885" y="6538793"/>
            <a:ext cx="566976" cy="56697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307349" y="65387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Region</a:t>
            </a:r>
            <a:endParaRPr lang="en-US" sz="2100" dirty="0"/>
          </a:p>
        </p:txBody>
      </p:sp>
      <p:sp>
        <p:nvSpPr>
          <p:cNvPr id="27" name="Text 17"/>
          <p:cNvSpPr/>
          <p:nvPr/>
        </p:nvSpPr>
        <p:spPr>
          <a:xfrm>
            <a:off x="8307350" y="7029213"/>
            <a:ext cx="552926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Geographic location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51856"/>
            <a:ext cx="478464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700"/>
              </a:lnSpc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Preprocessing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12353" y="1472803"/>
            <a:ext cx="13205579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Steps taken to prepare and clean the dataset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52" y="1936553"/>
            <a:ext cx="956906" cy="11482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30706" y="212788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Sheet</a:t>
            </a: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830705" y="2523649"/>
            <a:ext cx="12087226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working sheet from original dataset</a:t>
            </a:r>
            <a:endParaRPr lang="en-US" sz="16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352" y="3084791"/>
            <a:ext cx="956906" cy="11482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30706" y="327612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Remove Duplicates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1830705" y="3671888"/>
            <a:ext cx="12087226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duplicate entries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52" y="4233029"/>
            <a:ext cx="956906" cy="114823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30706" y="442436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Value Replacement</a:t>
            </a:r>
            <a:endParaRPr lang="en-US" dirty="0"/>
          </a:p>
        </p:txBody>
      </p:sp>
      <p:sp>
        <p:nvSpPr>
          <p:cNvPr id="12" name="Text 7"/>
          <p:cNvSpPr/>
          <p:nvPr/>
        </p:nvSpPr>
        <p:spPr>
          <a:xfrm>
            <a:off x="1830705" y="4820126"/>
            <a:ext cx="12087226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Replaced M→Male, F→Female, S→Single</a:t>
            </a:r>
            <a:endParaRPr lang="en-US" sz="16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52" y="5381268"/>
            <a:ext cx="956906" cy="114823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30706" y="557260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Currency Format</a:t>
            </a:r>
            <a:endParaRPr lang="en-US" dirty="0"/>
          </a:p>
        </p:txBody>
      </p:sp>
      <p:sp>
        <p:nvSpPr>
          <p:cNvPr id="15" name="Text 9"/>
          <p:cNvSpPr/>
          <p:nvPr/>
        </p:nvSpPr>
        <p:spPr>
          <a:xfrm>
            <a:off x="1830705" y="5968365"/>
            <a:ext cx="12087226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Converted income to currency format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352" y="6529507"/>
            <a:ext cx="956906" cy="114823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30706" y="6720840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 Brackets</a:t>
            </a:r>
            <a:endParaRPr lang="en-US" dirty="0"/>
          </a:p>
        </p:txBody>
      </p:sp>
      <p:sp>
        <p:nvSpPr>
          <p:cNvPr id="18" name="Text 11"/>
          <p:cNvSpPr/>
          <p:nvPr/>
        </p:nvSpPr>
        <p:spPr>
          <a:xfrm>
            <a:off x="1830705" y="7116605"/>
            <a:ext cx="12087226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age brackets: Adolescent, Middle Age, Old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11" y="61817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850"/>
              </a:lnSpc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Tools &amp; Techniques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94612" y="1585555"/>
            <a:ext cx="6533794" cy="1892856"/>
          </a:xfrm>
          <a:prstGeom prst="roundRect">
            <a:avLst>
              <a:gd name="adj" fmla="val 440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589" y="1791534"/>
            <a:ext cx="595314" cy="595313"/>
          </a:xfrm>
          <a:prstGeom prst="roundRect">
            <a:avLst>
              <a:gd name="adj" fmla="val 15358451"/>
            </a:avLst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64301" y="1955126"/>
            <a:ext cx="267891" cy="2678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589" y="2560439"/>
            <a:ext cx="24809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Microsoft Excel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00590" y="2974778"/>
            <a:ext cx="612183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tool for data analysis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01997" y="1585555"/>
            <a:ext cx="6533794" cy="1892856"/>
          </a:xfrm>
          <a:prstGeom prst="roundRect">
            <a:avLst>
              <a:gd name="adj" fmla="val 440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07977" y="1791534"/>
            <a:ext cx="595314" cy="595313"/>
          </a:xfrm>
          <a:prstGeom prst="roundRect">
            <a:avLst>
              <a:gd name="adj" fmla="val 15358451"/>
            </a:avLst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7771687" y="1955126"/>
            <a:ext cx="267891" cy="2678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07976" y="2560439"/>
            <a:ext cx="24809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Pivot Tables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7607976" y="2974778"/>
            <a:ext cx="612183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analysis tool for summarizing information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94612" y="3652004"/>
            <a:ext cx="6533794" cy="1892856"/>
          </a:xfrm>
          <a:prstGeom prst="roundRect">
            <a:avLst>
              <a:gd name="adj" fmla="val 440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00589" y="3857983"/>
            <a:ext cx="595314" cy="595313"/>
          </a:xfrm>
          <a:prstGeom prst="roundRect">
            <a:avLst>
              <a:gd name="adj" fmla="val 15358451"/>
            </a:avLst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1064301" y="4021575"/>
            <a:ext cx="267891" cy="2678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0589" y="4626889"/>
            <a:ext cx="24809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Charts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900590" y="5041226"/>
            <a:ext cx="612183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Bar, Line, and Column charts for visualization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7401997" y="3652004"/>
            <a:ext cx="6533794" cy="1892856"/>
          </a:xfrm>
          <a:prstGeom prst="roundRect">
            <a:avLst>
              <a:gd name="adj" fmla="val 440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607977" y="3857983"/>
            <a:ext cx="595314" cy="595313"/>
          </a:xfrm>
          <a:prstGeom prst="roundRect">
            <a:avLst>
              <a:gd name="adj" fmla="val 15358451"/>
            </a:avLst>
          </a:prstGeom>
          <a:solidFill>
            <a:srgbClr val="1B1B2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771687" y="4021575"/>
            <a:ext cx="267891" cy="2678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07976" y="4626889"/>
            <a:ext cx="24809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Slicers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7607976" y="5041226"/>
            <a:ext cx="612183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filtering for data exploration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694612" y="5718454"/>
            <a:ext cx="6533794" cy="1892856"/>
          </a:xfrm>
          <a:prstGeom prst="roundRect">
            <a:avLst>
              <a:gd name="adj" fmla="val 440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00589" y="5924431"/>
            <a:ext cx="595314" cy="595313"/>
          </a:xfrm>
          <a:prstGeom prst="roundRect">
            <a:avLst>
              <a:gd name="adj" fmla="val 15358451"/>
            </a:avLst>
          </a:prstGeom>
          <a:solidFill>
            <a:srgbClr val="1B1B27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1064301" y="6088024"/>
            <a:ext cx="267891" cy="2678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0589" y="6693338"/>
            <a:ext cx="24809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900590" y="7107675"/>
            <a:ext cx="612183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hub for visualizations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7401997" y="5718454"/>
            <a:ext cx="6533794" cy="1892856"/>
          </a:xfrm>
          <a:prstGeom prst="roundRect">
            <a:avLst>
              <a:gd name="adj" fmla="val 440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7607977" y="5924431"/>
            <a:ext cx="595314" cy="595313"/>
          </a:xfrm>
          <a:prstGeom prst="roundRect">
            <a:avLst>
              <a:gd name="adj" fmla="val 15358451"/>
            </a:avLst>
          </a:prstGeom>
          <a:solidFill>
            <a:srgbClr val="1B1B27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771687" y="6088024"/>
            <a:ext cx="267891" cy="2678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607976" y="6693338"/>
            <a:ext cx="24809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00"/>
              </a:lnSpc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Report Connections</a:t>
            </a:r>
            <a:endParaRPr lang="en-US" sz="2000" dirty="0"/>
          </a:p>
        </p:txBody>
      </p:sp>
      <p:sp>
        <p:nvSpPr>
          <p:cNvPr id="32" name="Text 24"/>
          <p:cNvSpPr/>
          <p:nvPr/>
        </p:nvSpPr>
        <p:spPr>
          <a:xfrm>
            <a:off x="7607976" y="7107675"/>
            <a:ext cx="612183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Linking filters across multiple reports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1" y="2175510"/>
            <a:ext cx="5250181" cy="38785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1" y="203251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6280191" y="3081457"/>
            <a:ext cx="7556421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dashboard displays key insights visually with interactive filtering capabilities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280190" y="42892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 Displays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280191" y="4870372"/>
            <a:ext cx="35015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83" indent="-342883">
              <a:lnSpc>
                <a:spcPts val="28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Average income per purchase</a:t>
            </a:r>
            <a:endParaRPr lang="en-US" sz="1700" dirty="0"/>
          </a:p>
          <a:p>
            <a:pPr marL="342883" indent="-342883">
              <a:lnSpc>
                <a:spcPts val="28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commute trends</a:t>
            </a:r>
            <a:endParaRPr lang="en-US" sz="1700" dirty="0"/>
          </a:p>
          <a:p>
            <a:pPr marL="342883" indent="-342883">
              <a:lnSpc>
                <a:spcPts val="28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 bracket distribution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0342722" y="42892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Slicers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0342722" y="4870372"/>
            <a:ext cx="35015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883" indent="-342883">
              <a:lnSpc>
                <a:spcPts val="28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Marital Status filter</a:t>
            </a:r>
            <a:endParaRPr lang="en-US" sz="1700" dirty="0"/>
          </a:p>
          <a:p>
            <a:pPr marL="342883" indent="-342883">
              <a:lnSpc>
                <a:spcPts val="28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Region filter</a:t>
            </a:r>
            <a:endParaRPr lang="en-US" sz="1700" dirty="0"/>
          </a:p>
          <a:p>
            <a:pPr marL="342883" indent="-342883">
              <a:lnSpc>
                <a:spcPts val="2850"/>
              </a:lnSpc>
              <a:buSzPct val="100000"/>
              <a:buChar char="•"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Education filter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10395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Insights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93791" y="2542105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3791" y="2511623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5" name="Shape 3"/>
          <p:cNvSpPr/>
          <p:nvPr/>
        </p:nvSpPr>
        <p:spPr>
          <a:xfrm>
            <a:off x="2551688" y="220194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2755762" y="2372082"/>
            <a:ext cx="27217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51085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Income Correlation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51085" y="3599497"/>
            <a:ext cx="3681770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Customers with higher income tend to purchase more frequently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216962" y="2542105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16962" y="2511623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1" name="Shape 9"/>
          <p:cNvSpPr/>
          <p:nvPr/>
        </p:nvSpPr>
        <p:spPr>
          <a:xfrm>
            <a:off x="6974861" y="220194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933" y="2372082"/>
            <a:ext cx="27217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4256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 Impact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74256" y="3599497"/>
            <a:ext cx="3681770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Middle-aged group shows highest purchasing behavior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9640133" y="2542105"/>
            <a:ext cx="4196358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40133" y="2511623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17" name="Shape 15"/>
          <p:cNvSpPr/>
          <p:nvPr/>
        </p:nvSpPr>
        <p:spPr>
          <a:xfrm>
            <a:off x="11398032" y="2201943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2106" y="2372082"/>
            <a:ext cx="27217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7427" y="31090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Commute Influence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7427" y="3599497"/>
            <a:ext cx="3681770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Commute distance influences buying patterns and preferences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93791" y="514957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93791" y="511909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541" y="480941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sp>
        <p:nvSpPr>
          <p:cNvPr id="24" name="Text 22"/>
          <p:cNvSpPr/>
          <p:nvPr/>
        </p:nvSpPr>
        <p:spPr>
          <a:xfrm>
            <a:off x="3861615" y="4979551"/>
            <a:ext cx="27217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051085" y="57165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Filtering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51083" y="6206966"/>
            <a:ext cx="5893357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allows dynamic filtering across multiple dimensions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428550" y="5149573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28550" y="5119092"/>
            <a:ext cx="6407944" cy="121920"/>
          </a:xfrm>
          <a:prstGeom prst="roundRect">
            <a:avLst>
              <a:gd name="adj" fmla="val 78139"/>
            </a:avLst>
          </a:prstGeom>
          <a:solidFill>
            <a:srgbClr val="1B1B27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92297" y="480941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1B1B27"/>
          </a:solidFill>
          <a:ln/>
        </p:spPr>
      </p:sp>
      <p:sp>
        <p:nvSpPr>
          <p:cNvPr id="30" name="Text 28"/>
          <p:cNvSpPr/>
          <p:nvPr/>
        </p:nvSpPr>
        <p:spPr>
          <a:xfrm>
            <a:off x="10496372" y="4979551"/>
            <a:ext cx="27217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00"/>
              </a:lnSpc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7685844" y="5716549"/>
            <a:ext cx="35169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Improved Decision-Making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685842" y="6206967"/>
            <a:ext cx="58933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analysis improves decision-making processes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2011087"/>
            <a:ext cx="71105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&amp; Future Scope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93790" y="328684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93791" y="4092060"/>
            <a:ext cx="113349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1133951" y="3967283"/>
            <a:ext cx="59045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 is effective for data analysis and visualization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93791" y="4908591"/>
            <a:ext cx="113349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1133951" y="4783814"/>
            <a:ext cx="59045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simplifies complex data interpretation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93791" y="5725120"/>
            <a:ext cx="113349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1133951" y="5600344"/>
            <a:ext cx="59045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Helps in understanding customer behavior patterns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99521" y="328684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Future Scope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7599521" y="4092060"/>
            <a:ext cx="113349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12" name="Text 10"/>
          <p:cNvSpPr/>
          <p:nvPr/>
        </p:nvSpPr>
        <p:spPr>
          <a:xfrm>
            <a:off x="7939684" y="3967283"/>
            <a:ext cx="59045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Power BI for advanced dashboards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99521" y="4908591"/>
            <a:ext cx="113349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7939684" y="4783814"/>
            <a:ext cx="59045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Apply machine learning for prediction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99521" y="5725120"/>
            <a:ext cx="113349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16" name="Text 14"/>
          <p:cNvSpPr/>
          <p:nvPr/>
        </p:nvSpPr>
        <p:spPr>
          <a:xfrm>
            <a:off x="7939684" y="5600344"/>
            <a:ext cx="590454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 analysis using Python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3760352"/>
            <a:ext cx="73106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                   THANK YOU!</a:t>
            </a:r>
            <a:endParaRPr 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472</Words>
  <Application>Microsoft Office PowerPoint</Application>
  <PresentationFormat>Custom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Roboto</vt:lpstr>
      <vt:lpstr>Raleway</vt:lpstr>
      <vt:lpstr>Raleway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Priyanshi</dc:creator>
  <cp:lastModifiedBy>Priyanshi Gupta</cp:lastModifiedBy>
  <cp:revision>2</cp:revision>
  <dcterms:created xsi:type="dcterms:W3CDTF">2026-04-19T20:52:19Z</dcterms:created>
  <dcterms:modified xsi:type="dcterms:W3CDTF">2026-04-19T20:53:56Z</dcterms:modified>
</cp:coreProperties>
</file>